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78" r:id="rId4"/>
    <p:sldId id="279" r:id="rId5"/>
    <p:sldId id="280" r:id="rId6"/>
    <p:sldId id="281" r:id="rId7"/>
    <p:sldId id="282" r:id="rId8"/>
    <p:sldId id="283" r:id="rId9"/>
    <p:sldId id="284" r:id="rId10"/>
    <p:sldId id="285" r:id="rId11"/>
    <p:sldId id="286" r:id="rId12"/>
    <p:sldId id="287" r:id="rId13"/>
    <p:sldId id="288" r:id="rId14"/>
    <p:sldId id="289" r:id="rId15"/>
    <p:sldId id="290" r:id="rId16"/>
    <p:sldId id="291" r:id="rId17"/>
    <p:sldId id="305" r:id="rId18"/>
    <p:sldId id="292" r:id="rId19"/>
    <p:sldId id="293" r:id="rId20"/>
    <p:sldId id="294" r:id="rId21"/>
    <p:sldId id="295" r:id="rId22"/>
    <p:sldId id="296" r:id="rId23"/>
    <p:sldId id="297" r:id="rId24"/>
    <p:sldId id="298" r:id="rId25"/>
    <p:sldId id="299" r:id="rId26"/>
    <p:sldId id="306" r:id="rId27"/>
    <p:sldId id="300" r:id="rId28"/>
    <p:sldId id="301" r:id="rId29"/>
    <p:sldId id="302" r:id="rId30"/>
    <p:sldId id="303" r:id="rId31"/>
    <p:sldId id="307" r:id="rId32"/>
    <p:sldId id="308" r:id="rId33"/>
    <p:sldId id="309" r:id="rId34"/>
    <p:sldId id="310" r:id="rId35"/>
    <p:sldId id="311" r:id="rId36"/>
    <p:sldId id="312" r:id="rId37"/>
    <p:sldId id="313" r:id="rId38"/>
    <p:sldId id="314" r:id="rId39"/>
    <p:sldId id="315" r:id="rId40"/>
    <p:sldId id="316" r:id="rId41"/>
    <p:sldId id="317" r:id="rId42"/>
    <p:sldId id="318" r:id="rId43"/>
    <p:sldId id="319" r:id="rId44"/>
    <p:sldId id="320" r:id="rId45"/>
    <p:sldId id="321" r:id="rId46"/>
    <p:sldId id="322" r:id="rId47"/>
    <p:sldId id="323" r:id="rId48"/>
    <p:sldId id="324" r:id="rId49"/>
    <p:sldId id="325" r:id="rId50"/>
    <p:sldId id="326" r:id="rId51"/>
    <p:sldId id="327" r:id="rId52"/>
    <p:sldId id="328" r:id="rId53"/>
    <p:sldId id="329" r:id="rId54"/>
    <p:sldId id="330" r:id="rId55"/>
    <p:sldId id="331" r:id="rId56"/>
    <p:sldId id="332" r:id="rId57"/>
    <p:sldId id="333" r:id="rId58"/>
    <p:sldId id="334" r:id="rId59"/>
    <p:sldId id="335" r:id="rId60"/>
    <p:sldId id="336" r:id="rId61"/>
    <p:sldId id="337" r:id="rId62"/>
    <p:sldId id="338" r:id="rId63"/>
    <p:sldId id="339" r:id="rId64"/>
    <p:sldId id="340" r:id="rId65"/>
    <p:sldId id="341" r:id="rId66"/>
    <p:sldId id="342" r:id="rId67"/>
    <p:sldId id="343" r:id="rId68"/>
    <p:sldId id="344" r:id="rId69"/>
    <p:sldId id="345" r:id="rId70"/>
    <p:sldId id="346" r:id="rId71"/>
    <p:sldId id="347" r:id="rId72"/>
    <p:sldId id="348" r:id="rId73"/>
    <p:sldId id="349" r:id="rId74"/>
    <p:sldId id="350" r:id="rId75"/>
    <p:sldId id="351" r:id="rId76"/>
    <p:sldId id="352" r:id="rId77"/>
    <p:sldId id="353" r:id="rId78"/>
    <p:sldId id="354" r:id="rId79"/>
    <p:sldId id="355" r:id="rId80"/>
    <p:sldId id="356" r:id="rId81"/>
    <p:sldId id="357" r:id="rId82"/>
    <p:sldId id="358" r:id="rId83"/>
    <p:sldId id="304" r:id="rId84"/>
    <p:sldId id="258" r:id="rId85"/>
    <p:sldId id="259" r:id="rId86"/>
    <p:sldId id="260" r:id="rId87"/>
    <p:sldId id="261" r:id="rId88"/>
    <p:sldId id="262" r:id="rId89"/>
    <p:sldId id="263" r:id="rId90"/>
    <p:sldId id="264" r:id="rId91"/>
    <p:sldId id="265" r:id="rId92"/>
    <p:sldId id="266" r:id="rId93"/>
    <p:sldId id="267" r:id="rId94"/>
    <p:sldId id="268" r:id="rId95"/>
    <p:sldId id="269" r:id="rId96"/>
    <p:sldId id="270" r:id="rId97"/>
    <p:sldId id="271" r:id="rId98"/>
    <p:sldId id="272" r:id="rId99"/>
    <p:sldId id="273" r:id="rId100"/>
    <p:sldId id="274" r:id="rId101"/>
    <p:sldId id="275" r:id="rId102"/>
    <p:sldId id="276" r:id="rId103"/>
    <p:sldId id="277" r:id="rId10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15" d="100"/>
          <a:sy n="115" d="100"/>
        </p:scale>
        <p:origin x="149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07" Type="http://schemas.openxmlformats.org/officeDocument/2006/relationships/theme" Target="theme/theme1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jpeg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6943"/>
            <a:ext cx="8229600" cy="1143000"/>
          </a:xfrm>
        </p:spPr>
        <p:txBody>
          <a:bodyPr/>
          <a:lstStyle/>
          <a:p>
            <a:r>
              <a:rPr dirty="0"/>
              <a:t>DBMS Architecture –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dirty="0"/>
              <a:t>Early DBMS were monolithic systems where all functions were tightly integrated.</a:t>
            </a:r>
          </a:p>
          <a:p>
            <a:endParaRPr dirty="0"/>
          </a:p>
          <a:p>
            <a:r>
              <a:rPr dirty="0"/>
              <a:t>Modern DBMS follow a modular, client/server architecture.</a:t>
            </a:r>
          </a:p>
          <a:p>
            <a:endParaRPr dirty="0"/>
          </a:p>
          <a:p>
            <a:r>
              <a:rPr dirty="0"/>
              <a:t>Client Module:</a:t>
            </a:r>
          </a:p>
          <a:p>
            <a:r>
              <a:rPr dirty="0"/>
              <a:t>• Runs on user machines</a:t>
            </a:r>
          </a:p>
          <a:p>
            <a:r>
              <a:rPr dirty="0"/>
              <a:t>• Handles user interaction</a:t>
            </a:r>
          </a:p>
          <a:p>
            <a:r>
              <a:rPr dirty="0"/>
              <a:t>• Provides GUI, forms, menus</a:t>
            </a:r>
          </a:p>
          <a:p>
            <a:endParaRPr dirty="0"/>
          </a:p>
          <a:p>
            <a:r>
              <a:rPr dirty="0"/>
              <a:t>Server Module:</a:t>
            </a:r>
          </a:p>
          <a:p>
            <a:r>
              <a:rPr dirty="0"/>
              <a:t>• Handles data storage</a:t>
            </a:r>
          </a:p>
          <a:p>
            <a:r>
              <a:rPr dirty="0"/>
              <a:t>• Manages queries, transactions, security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dirty="0"/>
              <a:t>A data model is a collection of concepts used to describe:</a:t>
            </a:r>
          </a:p>
          <a:p>
            <a:r>
              <a:rPr dirty="0"/>
              <a:t>• Structure of the database</a:t>
            </a:r>
          </a:p>
          <a:p>
            <a:r>
              <a:rPr dirty="0"/>
              <a:t>• Data types</a:t>
            </a:r>
          </a:p>
          <a:p>
            <a:r>
              <a:rPr dirty="0"/>
              <a:t>• Relationships among data</a:t>
            </a:r>
          </a:p>
          <a:p>
            <a:r>
              <a:rPr dirty="0"/>
              <a:t>• Constraints on data</a:t>
            </a:r>
          </a:p>
          <a:p>
            <a:endParaRPr dirty="0"/>
          </a:p>
          <a:p>
            <a:r>
              <a:rPr dirty="0"/>
              <a:t>It also includes operations for data retrieval and update.</a:t>
            </a:r>
          </a:p>
          <a:p>
            <a:r>
              <a:rPr dirty="0"/>
              <a:t>Data models provide abstraction.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Categories of Data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models can be categorized according to the types of concepts they use to describe the database structure.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High-Level or Conceptual Data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High-level or conceptual data models provide concepts that are close to the way many users perceive data.</a:t>
            </a:r>
          </a:p>
          <a:p>
            <a:endParaRPr/>
          </a:p>
          <a:p>
            <a:r>
              <a:t>These models focus on the logical view of data rather than storage details.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Concepts Used in Conceptual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Conceptual data models use the following concepts:</a:t>
            </a:r>
          </a:p>
          <a:p>
            <a:endParaRPr/>
          </a:p>
          <a:p>
            <a:r>
              <a:t>• Entities</a:t>
            </a:r>
          </a:p>
          <a:p>
            <a:r>
              <a:t>• Attributes</a:t>
            </a:r>
          </a:p>
          <a:p>
            <a:r>
              <a:t>• Relationships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Conceptual Data Model –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t>Example: University Database</a:t>
            </a:r>
          </a:p>
          <a:p>
            <a:endParaRPr/>
          </a:p>
          <a:p>
            <a:r>
              <a:t>Entity: STUDENT</a:t>
            </a:r>
          </a:p>
          <a:p>
            <a:r>
              <a:t>Attributes: Student_ID, Name, Course</a:t>
            </a:r>
          </a:p>
          <a:p>
            <a:endParaRPr/>
          </a:p>
          <a:p>
            <a:r>
              <a:t>Entity: COURSE</a:t>
            </a:r>
          </a:p>
          <a:p>
            <a:r>
              <a:t>Attributes: Course_ID, Course_Name</a:t>
            </a:r>
          </a:p>
          <a:p>
            <a:endParaRPr/>
          </a:p>
          <a:p>
            <a:r>
              <a:t>Relationship: STUDENT enrolls in COURSE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Representational or Implementation Data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dirty="0"/>
              <a:t>Representational data models provide concepts that are easily understood by end users but are closer to the way data is organized in computer storage.</a:t>
            </a:r>
          </a:p>
          <a:p>
            <a:endParaRPr dirty="0"/>
          </a:p>
          <a:p>
            <a:r>
              <a:rPr dirty="0"/>
              <a:t>These models hide many details of physical data storage.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Usage of Representational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Representational or implementation data models are used most frequently in traditional commercial DBMSs.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Types of Representational Data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Common representational data models include:</a:t>
            </a:r>
          </a:p>
          <a:p>
            <a:endParaRPr/>
          </a:p>
          <a:p>
            <a:r>
              <a:t>• Relational data model</a:t>
            </a:r>
          </a:p>
          <a:p>
            <a:r>
              <a:t>• Network data model</a:t>
            </a:r>
          </a:p>
          <a:p>
            <a:r>
              <a:t>• Hierarchical data model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Called Record-Based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Representational data models represent data using record structures.</a:t>
            </a:r>
          </a:p>
          <a:p>
            <a:endParaRPr/>
          </a:p>
          <a:p>
            <a:r>
              <a:t>Because of this, they are also called record-based data models.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Relational Model –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STUDENT Table</a:t>
            </a:r>
          </a:p>
          <a:p>
            <a:endParaRPr/>
          </a:p>
          <a:p>
            <a:r>
              <a:t>Student_ID | Name | Course</a:t>
            </a:r>
          </a:p>
          <a:p>
            <a:r>
              <a:t>101 | Ravi | BCA</a:t>
            </a:r>
          </a:p>
          <a:p>
            <a:r>
              <a:t>102 | Anita | BSc</a:t>
            </a:r>
          </a:p>
          <a:p>
            <a:endParaRPr/>
          </a:p>
          <a:p>
            <a:r>
              <a:t>Data is stored in the form of tables (relations).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Low-Level or Physical Data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Low-level or physical data models provide concepts that describe how data is stored on computer storage media.</a:t>
            </a:r>
          </a:p>
          <a:p>
            <a:endParaRPr/>
          </a:p>
          <a:p>
            <a:r>
              <a:t>These models focus on physical storage details.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Storage Details in Physical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Physical data models describe:</a:t>
            </a:r>
          </a:p>
          <a:p>
            <a:endParaRPr/>
          </a:p>
          <a:p>
            <a:r>
              <a:t>• Record formats</a:t>
            </a:r>
          </a:p>
          <a:p>
            <a:r>
              <a:t>• Record orderings</a:t>
            </a:r>
          </a:p>
          <a:p>
            <a:r>
              <a:t>• Access paths</a:t>
            </a:r>
          </a:p>
          <a:p>
            <a:endParaRPr/>
          </a:p>
          <a:p>
            <a:r>
              <a:t>Data is typically stored on magnetic disks.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Physical Data Model –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Student records stored as files on disk.</a:t>
            </a:r>
          </a:p>
          <a:p>
            <a:endParaRPr/>
          </a:p>
          <a:p>
            <a:r>
              <a:t>• Fixed-length or variable-length records</a:t>
            </a:r>
          </a:p>
          <a:p>
            <a:r>
              <a:t>• Indexed using access paths</a:t>
            </a:r>
          </a:p>
          <a:p>
            <a:r>
              <a:t>• Stored in disk blocks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of Categories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24796"/>
          </a:xfrm>
        </p:spPr>
        <p:txBody>
          <a:bodyPr>
            <a:normAutofit fontScale="92500" lnSpcReduction="20000"/>
          </a:bodyPr>
          <a:lstStyle/>
          <a:p>
            <a:r>
              <a:rPr dirty="0"/>
              <a:t>High-Level Data Models:</a:t>
            </a:r>
          </a:p>
          <a:p>
            <a:r>
              <a:rPr dirty="0"/>
              <a:t>• User-oriented</a:t>
            </a:r>
          </a:p>
          <a:p>
            <a:r>
              <a:rPr dirty="0"/>
              <a:t>• Use entities and relationships</a:t>
            </a:r>
          </a:p>
          <a:p>
            <a:endParaRPr dirty="0"/>
          </a:p>
          <a:p>
            <a:r>
              <a:rPr dirty="0"/>
              <a:t>Representational Data Models:</a:t>
            </a:r>
          </a:p>
          <a:p>
            <a:r>
              <a:rPr dirty="0"/>
              <a:t>• Record-based</a:t>
            </a:r>
          </a:p>
          <a:p>
            <a:r>
              <a:rPr dirty="0"/>
              <a:t>• Used in DBMS implementations</a:t>
            </a:r>
          </a:p>
          <a:p>
            <a:endParaRPr dirty="0"/>
          </a:p>
          <a:p>
            <a:r>
              <a:rPr dirty="0"/>
              <a:t>Physical Data Models:</a:t>
            </a:r>
          </a:p>
          <a:p>
            <a:r>
              <a:rPr dirty="0"/>
              <a:t>• Storage-oriented</a:t>
            </a:r>
          </a:p>
          <a:p>
            <a:r>
              <a:rPr dirty="0"/>
              <a:t>• Focus on files and access paths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Schema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t>The description of a database is called the database schema.</a:t>
            </a:r>
          </a:p>
          <a:p>
            <a:endParaRPr/>
          </a:p>
          <a:p>
            <a:r>
              <a:t>It is specified during database design and is not expected to change frequently.</a:t>
            </a:r>
          </a:p>
          <a:p>
            <a:endParaRPr/>
          </a:p>
          <a:p>
            <a:r>
              <a:t>Example:</a:t>
            </a:r>
          </a:p>
          <a:p>
            <a:r>
              <a:t>STUDENT(Student_ID, Name, Course)</a:t>
            </a:r>
          </a:p>
          <a:p>
            <a:r>
              <a:t>COURSE(Course_ID, Course_Name)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33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6219" y="621319"/>
            <a:ext cx="6491489" cy="40338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-656706" y="5117515"/>
            <a:ext cx="660861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049145">
              <a:spcAft>
                <a:spcPts val="0"/>
              </a:spcAft>
            </a:pPr>
            <a:r>
              <a:rPr lang="en-US" b="1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Figure:</a:t>
            </a:r>
            <a:r>
              <a:rPr lang="en-US" b="1" spc="65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Schema</a:t>
            </a:r>
            <a:r>
              <a:rPr lang="en-US" b="1" spc="4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diagram</a:t>
            </a:r>
            <a:r>
              <a:rPr lang="en-US" b="1" spc="4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for</a:t>
            </a:r>
            <a:r>
              <a:rPr lang="en-US" b="1" spc="5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en-US" b="1" spc="4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database</a:t>
            </a:r>
            <a:endParaRPr lang="en-IN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62970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Schema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displayed schema is called a schema diagram.</a:t>
            </a:r>
          </a:p>
          <a:p>
            <a:endParaRPr/>
          </a:p>
          <a:p>
            <a:r>
              <a:t>It displays only some aspects of a schema such as:</a:t>
            </a:r>
          </a:p>
          <a:p>
            <a:r>
              <a:t>• Names of record types</a:t>
            </a:r>
          </a:p>
          <a:p>
            <a:r>
              <a:t>• Data items</a:t>
            </a:r>
          </a:p>
          <a:p>
            <a:r>
              <a:t>• Some types of constraints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Schema Construct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Each object in the schema is called a schema construct.</a:t>
            </a:r>
          </a:p>
          <a:p>
            <a:endParaRPr/>
          </a:p>
          <a:p>
            <a:r>
              <a:t>Examples:</a:t>
            </a:r>
          </a:p>
          <a:p>
            <a:r>
              <a:t>• STUDENT</a:t>
            </a:r>
          </a:p>
          <a:p>
            <a:r>
              <a:t>• COURSE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State or Snapshot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data in the database at a particular moment in time is called a database state or snapshot.</a:t>
            </a:r>
          </a:p>
          <a:p>
            <a:endParaRPr/>
          </a:p>
          <a:p>
            <a:r>
              <a:t>It is also called the current set of occurrences or instances in the database.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State –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For the STUDENT schema construct, the database state contains:</a:t>
            </a:r>
          </a:p>
          <a:p>
            <a:endParaRPr/>
          </a:p>
          <a:p>
            <a:r>
              <a:t>Student_ID | Name | Course</a:t>
            </a:r>
          </a:p>
          <a:p>
            <a:r>
              <a:t>101 | Ravi | BCA</a:t>
            </a:r>
          </a:p>
          <a:p>
            <a:r>
              <a:t>102 | Anita | BSc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Schema and Database State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t>The distinction between database schema and database state is very important.</a:t>
            </a:r>
          </a:p>
          <a:p>
            <a:endParaRPr/>
          </a:p>
          <a:p>
            <a:r>
              <a:t>• When a new database is defined, only schema is specified.</a:t>
            </a:r>
          </a:p>
          <a:p>
            <a:r>
              <a:t>• At this time, database state is empty.</a:t>
            </a:r>
          </a:p>
          <a:p>
            <a:r>
              <a:t>• Initial state is created when data is loaded.</a:t>
            </a:r>
          </a:p>
          <a:p>
            <a:r>
              <a:t>• Every update operation creates a new database state.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Role of DBMS and Metadata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DBMS ensures every database state is valid.</a:t>
            </a:r>
          </a:p>
          <a:p>
            <a:endParaRPr/>
          </a:p>
          <a:p>
            <a:r>
              <a:t>A valid state satisfies the structure and constraints specified in the schema.</a:t>
            </a:r>
          </a:p>
          <a:p>
            <a:endParaRPr/>
          </a:p>
          <a:p>
            <a:r>
              <a:t>Schema descriptions and constraints are stored as metadata in the DBMS catalog.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Intension and Extension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schema is sometimes called the intension.</a:t>
            </a:r>
          </a:p>
          <a:p>
            <a:endParaRPr/>
          </a:p>
          <a:p>
            <a:r>
              <a:t>The database state is called an extension of the schema.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Three-Schema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goal of the three-schema architecture is to separate user applications from the physical database.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35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19204" y="342899"/>
            <a:ext cx="6620192" cy="4470169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0327" y="5416773"/>
            <a:ext cx="699100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047240" algn="just">
              <a:spcAft>
                <a:spcPts val="0"/>
              </a:spcAft>
            </a:pPr>
            <a:r>
              <a:rPr lang="en-US" b="1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Figure:</a:t>
            </a:r>
            <a:r>
              <a:rPr lang="en-US" b="1" spc="7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en-US" b="1" spc="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three-schema</a:t>
            </a:r>
            <a:r>
              <a:rPr lang="en-US" b="1" spc="6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spc="-1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architecture</a:t>
            </a:r>
            <a:endParaRPr lang="en-IN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99052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Internal Level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internal level has an internal schema.</a:t>
            </a:r>
          </a:p>
          <a:p>
            <a:endParaRPr/>
          </a:p>
          <a:p>
            <a:r>
              <a:t>• Describes physical storage structure</a:t>
            </a:r>
          </a:p>
          <a:p>
            <a:r>
              <a:t>• Uses physical data model</a:t>
            </a:r>
          </a:p>
          <a:p>
            <a:r>
              <a:t>• Describes storage details and access paths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Conceptual Level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conceptual level has a conceptual schema.</a:t>
            </a:r>
          </a:p>
          <a:p>
            <a:endParaRPr/>
          </a:p>
          <a:p>
            <a:r>
              <a:t>• Describes structure of the whole database</a:t>
            </a:r>
          </a:p>
          <a:p>
            <a:r>
              <a:t>• Represents community view of data</a:t>
            </a:r>
          </a:p>
          <a:p>
            <a:r>
              <a:t>• Hides physical storage details</a:t>
            </a:r>
          </a:p>
          <a:p>
            <a:r>
              <a:t>• Describes entities, relationships, constraints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External Level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external level includes a number of external schemas or user views.</a:t>
            </a:r>
          </a:p>
          <a:p>
            <a:endParaRPr/>
          </a:p>
          <a:p>
            <a:r>
              <a:t>• Each schema shows the part of the database required by a user group</a:t>
            </a:r>
          </a:p>
          <a:p>
            <a:r>
              <a:t>• Hides the rest of the database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Three-Schema Architecture – 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Each user group refers to its own external schema.</a:t>
            </a:r>
          </a:p>
          <a:p>
            <a:endParaRPr/>
          </a:p>
          <a:p>
            <a:r>
              <a:t>The DBMS transforms:</a:t>
            </a:r>
          </a:p>
          <a:p>
            <a:r>
              <a:t>• External schema request → Conceptual schema request</a:t>
            </a:r>
          </a:p>
          <a:p>
            <a:r>
              <a:t>• Conceptual schema request → Internal schema request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Independence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dirty="0"/>
              <a:t>Data independence can be defined as the capacity to change the schema at one level of a database system without having to change the schema at the next higher level.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Data Independence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There are two types of data independence:</a:t>
            </a:r>
          </a:p>
          <a:p>
            <a:endParaRPr/>
          </a:p>
          <a:p>
            <a:r>
              <a:t>1. Logical Data Independence</a:t>
            </a:r>
          </a:p>
          <a:p>
            <a:r>
              <a:t>2. Physical Data Independence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Logical Data Independence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dirty="0"/>
              <a:t>Logical data independence is the capacity to change the conceptual schema without having to change external schemas or application programs.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Logical Data Independence – Purpose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The conceptual schema may be changed to:</a:t>
            </a:r>
          </a:p>
          <a:p>
            <a:endParaRPr dirty="0"/>
          </a:p>
          <a:p>
            <a:pPr marL="0" indent="0">
              <a:buNone/>
            </a:pPr>
            <a:r>
              <a:rPr dirty="0"/>
              <a:t>• Expand the database</a:t>
            </a:r>
          </a:p>
          <a:p>
            <a:pPr marL="0" indent="0">
              <a:buNone/>
            </a:pPr>
            <a:r>
              <a:rPr dirty="0"/>
              <a:t>• Change constraints</a:t>
            </a:r>
          </a:p>
          <a:p>
            <a:pPr marL="0" indent="0">
              <a:buNone/>
            </a:pPr>
            <a:r>
              <a:rPr dirty="0"/>
              <a:t>• Reduce the database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Logical Data Independence – Key Point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9629" y="1600200"/>
            <a:ext cx="8744989" cy="4525963"/>
          </a:xfrm>
        </p:spPr>
        <p:txBody>
          <a:bodyPr/>
          <a:lstStyle/>
          <a:p>
            <a:pPr marL="0" indent="0">
              <a:buNone/>
            </a:pPr>
            <a:r>
              <a:rPr dirty="0"/>
              <a:t>In a DBMS that supports logical data </a:t>
            </a:r>
            <a:r>
              <a:rPr lang="en-US" dirty="0" smtClean="0"/>
              <a:t>i</a:t>
            </a:r>
            <a:r>
              <a:rPr dirty="0" smtClean="0"/>
              <a:t>ndependence</a:t>
            </a:r>
            <a:r>
              <a:rPr dirty="0"/>
              <a:t>:</a:t>
            </a:r>
          </a:p>
          <a:p>
            <a:endParaRPr dirty="0"/>
          </a:p>
          <a:p>
            <a:pPr marL="0" indent="0">
              <a:buNone/>
            </a:pPr>
            <a:r>
              <a:rPr dirty="0"/>
              <a:t>• Only view definitions need to be changed</a:t>
            </a:r>
          </a:p>
          <a:p>
            <a:pPr marL="0" indent="0">
              <a:buNone/>
            </a:pPr>
            <a:r>
              <a:rPr dirty="0"/>
              <a:t>• Only mappings need to be changed</a:t>
            </a:r>
          </a:p>
          <a:p>
            <a:endParaRPr dirty="0"/>
          </a:p>
          <a:p>
            <a:r>
              <a:rPr dirty="0"/>
              <a:t>External schemas and application programs remain unchanged.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Logical Data Independence –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Conceptual Schema Change Example:</a:t>
            </a:r>
          </a:p>
          <a:p>
            <a:endParaRPr/>
          </a:p>
          <a:p>
            <a:r>
              <a:t>STUDENT(Student_ID, Name, Course)</a:t>
            </a:r>
          </a:p>
          <a:p>
            <a:r>
              <a:t>→ STUDENT(Student_ID, Name, Course, Email)</a:t>
            </a:r>
          </a:p>
          <a:p>
            <a:endParaRPr/>
          </a:p>
          <a:p>
            <a:r>
              <a:t>User views are not affected.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Physical Data Independence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Physical data independence is the capacity to change the internal schema without having to change the conceptual schema.</a:t>
            </a:r>
          </a:p>
          <a:p>
            <a:endParaRPr dirty="0"/>
          </a:p>
          <a:p>
            <a:r>
              <a:rPr dirty="0"/>
              <a:t>External schemas also need not be changed.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Physical Data Independence – Reason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Changes to the internal schema may be needed because:</a:t>
            </a:r>
          </a:p>
          <a:p>
            <a:endParaRPr dirty="0"/>
          </a:p>
          <a:p>
            <a:pPr marL="0" indent="0">
              <a:buNone/>
            </a:pPr>
            <a:r>
              <a:rPr dirty="0"/>
              <a:t>• Physical files are reorganized</a:t>
            </a:r>
          </a:p>
          <a:p>
            <a:pPr marL="0" indent="0">
              <a:buNone/>
            </a:pPr>
            <a:r>
              <a:rPr dirty="0"/>
              <a:t>• Additional access structures are created</a:t>
            </a:r>
          </a:p>
          <a:p>
            <a:pPr marL="0" indent="0">
              <a:buNone/>
            </a:pPr>
            <a:r>
              <a:rPr dirty="0"/>
              <a:t>• Performance improvement is required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Physical Data Independence –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Examples of internal schema changes:</a:t>
            </a:r>
          </a:p>
          <a:p>
            <a:endParaRPr dirty="0"/>
          </a:p>
          <a:p>
            <a:pPr marL="0" indent="0">
              <a:buNone/>
            </a:pPr>
            <a:r>
              <a:rPr dirty="0"/>
              <a:t>• Creating an index on </a:t>
            </a:r>
            <a:r>
              <a:rPr dirty="0" err="1"/>
              <a:t>Student_ID</a:t>
            </a:r>
            <a:endParaRPr dirty="0"/>
          </a:p>
          <a:p>
            <a:pPr marL="0" indent="0">
              <a:buNone/>
            </a:pPr>
            <a:r>
              <a:rPr dirty="0"/>
              <a:t>• Changing file organization</a:t>
            </a:r>
          </a:p>
          <a:p>
            <a:pPr marL="0" indent="0">
              <a:buNone/>
            </a:pPr>
            <a:r>
              <a:rPr dirty="0"/>
              <a:t>• Adding access paths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Logical Data Independence:</a:t>
            </a:r>
          </a:p>
          <a:p>
            <a:pPr marL="0" indent="0">
              <a:buNone/>
            </a:pPr>
            <a:r>
              <a:rPr dirty="0"/>
              <a:t>• Change conceptual schema</a:t>
            </a:r>
          </a:p>
          <a:p>
            <a:pPr marL="0" indent="0">
              <a:buNone/>
            </a:pPr>
            <a:r>
              <a:rPr dirty="0"/>
              <a:t>• External schemas unaffected</a:t>
            </a:r>
          </a:p>
          <a:p>
            <a:endParaRPr dirty="0"/>
          </a:p>
          <a:p>
            <a:r>
              <a:rPr dirty="0"/>
              <a:t>Physical Data Independence:</a:t>
            </a:r>
          </a:p>
          <a:p>
            <a:pPr marL="0" indent="0">
              <a:buNone/>
            </a:pPr>
            <a:r>
              <a:rPr dirty="0"/>
              <a:t>• Change internal schema</a:t>
            </a:r>
          </a:p>
          <a:p>
            <a:pPr marL="0" indent="0">
              <a:buNone/>
            </a:pPr>
            <a:r>
              <a:rPr dirty="0"/>
              <a:t>• Conceptual schema unaffected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Languages and Interfaces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DBMS must provide appropriate languages and interfaces for each category of users.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DBMS Languages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Once the database design is completed and a DBMS is chosen, the first step is to specify:</a:t>
            </a:r>
          </a:p>
          <a:p>
            <a:endParaRPr dirty="0"/>
          </a:p>
          <a:p>
            <a:pPr marL="0" indent="0">
              <a:buNone/>
            </a:pPr>
            <a:r>
              <a:rPr dirty="0"/>
              <a:t>• Conceptual schema</a:t>
            </a:r>
          </a:p>
          <a:p>
            <a:pPr marL="0" indent="0">
              <a:buNone/>
            </a:pPr>
            <a:r>
              <a:rPr dirty="0"/>
              <a:t>• Internal schema</a:t>
            </a:r>
          </a:p>
          <a:p>
            <a:pPr marL="0" indent="0">
              <a:buNone/>
            </a:pPr>
            <a:r>
              <a:rPr dirty="0"/>
              <a:t>• Mappings between the schemas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Data Definition Language (DDL)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data definition language (DDL) is used by the DBA and database designers to define schemas.</a:t>
            </a:r>
          </a:p>
          <a:p>
            <a:endParaRPr/>
          </a:p>
          <a:p>
            <a:r>
              <a:t>The DBMS has a DDL compiler that processes DDL statements and stores schema descriptions in the DBMS catalog.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DDL –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Example:</a:t>
            </a:r>
          </a:p>
          <a:p>
            <a:r>
              <a:t>CREATE TABLE STUDENT (</a:t>
            </a:r>
          </a:p>
          <a:p>
            <a:r>
              <a:t>Student_ID INT,</a:t>
            </a:r>
          </a:p>
          <a:p>
            <a:r>
              <a:t>Name VARCHAR(30),</a:t>
            </a:r>
          </a:p>
          <a:p>
            <a:r>
              <a:t>Course VARCHAR(20)</a:t>
            </a:r>
          </a:p>
          <a:p>
            <a:r>
              <a:t>);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Storage Definition Language (SDL)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Storage definition language is used when there is clear separation between conceptual and internal levels.</a:t>
            </a:r>
          </a:p>
          <a:p>
            <a:endParaRPr dirty="0"/>
          </a:p>
          <a:p>
            <a:pPr marL="0" indent="0">
              <a:buNone/>
            </a:pPr>
            <a:r>
              <a:rPr dirty="0"/>
              <a:t>• DDL specifies conceptual schema</a:t>
            </a:r>
          </a:p>
          <a:p>
            <a:pPr marL="0" indent="0">
              <a:buNone/>
            </a:pPr>
            <a:r>
              <a:rPr dirty="0"/>
              <a:t>• SDL specifies internal schema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View Definition Language (VDL)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View definition language is used to specify user views and their mappings to the conceptual schema.</a:t>
            </a:r>
          </a:p>
          <a:p>
            <a:endParaRPr/>
          </a:p>
          <a:p>
            <a:r>
              <a:t>In relational DBMSs, SQL is used as VDL.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VDL –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Example:</a:t>
            </a:r>
          </a:p>
          <a:p>
            <a:r>
              <a:t>CREATE VIEW Student_View AS</a:t>
            </a:r>
          </a:p>
          <a:p>
            <a:r>
              <a:t>SELECT Name, Course FROM STUDENT;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Data Manipulation Language (DML)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manipulation language is used for retrieval, insertion, deletion, and modification of data.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DML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There are two types of DML:</a:t>
            </a:r>
          </a:p>
          <a:p>
            <a:endParaRPr/>
          </a:p>
          <a:p>
            <a:r>
              <a:t>1. High-level (Nonprocedural)</a:t>
            </a:r>
          </a:p>
          <a:p>
            <a:r>
              <a:t>2. Low-level (Procedural)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High-Level DML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High-level DML specifies what data to retrieve.</a:t>
            </a:r>
          </a:p>
          <a:p>
            <a:endParaRPr/>
          </a:p>
          <a:p>
            <a:r>
              <a:t>• Set-oriented</a:t>
            </a:r>
          </a:p>
          <a:p>
            <a:r>
              <a:t>• Declarative</a:t>
            </a:r>
          </a:p>
          <a:p>
            <a:r>
              <a:t>• Can be interactive or embedded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High-Level DML –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Example:</a:t>
            </a:r>
          </a:p>
          <a:p>
            <a:r>
              <a:t>SELECT * FROM STUDENT WHERE Course = 'BCA';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Low-Level DML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Low-level DML retrieves one record at a time.</a:t>
            </a:r>
          </a:p>
          <a:p>
            <a:endParaRPr/>
          </a:p>
          <a:p>
            <a:r>
              <a:t>• Embedded in host language</a:t>
            </a:r>
          </a:p>
          <a:p>
            <a:r>
              <a:t>• Uses loops</a:t>
            </a:r>
          </a:p>
          <a:p>
            <a:r>
              <a:t>• Record-at-a-time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Low-Level DML –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Example: DL/1 commands</a:t>
            </a:r>
          </a:p>
          <a:p>
            <a:r>
              <a:t>GET UNIQUE</a:t>
            </a:r>
          </a:p>
          <a:p>
            <a:r>
              <a:t>GET NEXT</a:t>
            </a:r>
          </a:p>
          <a:p>
            <a:r>
              <a:t>GET NEXT WITHIN PARENT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Host Language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When DML is embedded in a programming language:</a:t>
            </a:r>
          </a:p>
          <a:p>
            <a:endParaRPr/>
          </a:p>
          <a:p>
            <a:r>
              <a:t>• Programming language is host language</a:t>
            </a:r>
          </a:p>
          <a:p>
            <a:r>
              <a:t>• DML is data sublanguage</a:t>
            </a:r>
          </a:p>
          <a:p>
            <a:endParaRPr/>
          </a:p>
          <a:p>
            <a:r>
              <a:t>Standalone high-level DML is called query language.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Menu-Based Interfaces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Menu-based interfaces present lists of options.</a:t>
            </a:r>
          </a:p>
          <a:p>
            <a:endParaRPr/>
          </a:p>
          <a:p>
            <a:r>
              <a:t>• No need to remember syntax</a:t>
            </a:r>
          </a:p>
          <a:p>
            <a:r>
              <a:t>• Popular in web-based interfaces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Forms-Based Interfaces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Forms-based interfaces display forms to users.</a:t>
            </a:r>
          </a:p>
          <a:p>
            <a:endParaRPr/>
          </a:p>
          <a:p>
            <a:r>
              <a:t>• Used for data entry</a:t>
            </a:r>
          </a:p>
          <a:p>
            <a:r>
              <a:t>• Designed for naive users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Graphical User Interfaces (GUI)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GUI displays schema diagrammatically.</a:t>
            </a:r>
          </a:p>
          <a:p>
            <a:endParaRPr/>
          </a:p>
          <a:p>
            <a:r>
              <a:t>• Uses mouse</a:t>
            </a:r>
          </a:p>
          <a:p>
            <a:r>
              <a:t>• Combines menus and forms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Natural Language Interfaces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Natural language interfaces accept queries in English or other languages.</a:t>
            </a:r>
          </a:p>
          <a:p>
            <a:endParaRPr/>
          </a:p>
          <a:p>
            <a:r>
              <a:t>• Translated into high-level queries</a:t>
            </a:r>
          </a:p>
          <a:p>
            <a:r>
              <a:t>• Dialogue started if unclear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Speech Input and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Speech interfaces are used in limited vocabulary applications.</a:t>
            </a:r>
          </a:p>
          <a:p>
            <a:endParaRPr/>
          </a:p>
          <a:p>
            <a:r>
              <a:t>Examples:</a:t>
            </a:r>
          </a:p>
          <a:p>
            <a:r>
              <a:t>• Telephone directory</a:t>
            </a:r>
          </a:p>
          <a:p>
            <a:r>
              <a:t>• Flight information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Interfaces for Parametric Users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Parametric users perform repetitive tasks.</a:t>
            </a:r>
          </a:p>
          <a:p>
            <a:endParaRPr/>
          </a:p>
          <a:p>
            <a:r>
              <a:t>Examples:</a:t>
            </a:r>
          </a:p>
          <a:p>
            <a:r>
              <a:t>• Bank tellers</a:t>
            </a:r>
          </a:p>
          <a:p>
            <a:r>
              <a:t>• Balance inquiries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Interfaces for the DBA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DBA interfaces include privileged commands for:</a:t>
            </a:r>
          </a:p>
          <a:p>
            <a:endParaRPr/>
          </a:p>
          <a:p>
            <a:r>
              <a:t>• Creating accounts</a:t>
            </a:r>
          </a:p>
          <a:p>
            <a:r>
              <a:t>• Granting authorization</a:t>
            </a:r>
          </a:p>
          <a:p>
            <a:r>
              <a:t>• Changing schema</a:t>
            </a:r>
          </a:p>
          <a:p>
            <a:r>
              <a:t>• Reorganizing storage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728822" y="83127"/>
            <a:ext cx="444031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 algn="r">
              <a:spcBef>
                <a:spcPts val="5"/>
              </a:spcBef>
              <a:spcAft>
                <a:spcPts val="0"/>
              </a:spcAft>
              <a:tabLst>
                <a:tab pos="1042670" algn="l"/>
              </a:tabLst>
            </a:pPr>
            <a:r>
              <a:rPr lang="en-US" sz="2000" b="1" kern="0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en-US" sz="2000" b="1" kern="0" spc="-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b="1" kern="0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Database</a:t>
            </a:r>
            <a:r>
              <a:rPr lang="en-US" sz="2000" b="1" kern="0" spc="-4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b="1" kern="0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System</a:t>
            </a:r>
            <a:r>
              <a:rPr lang="en-US" sz="2000" b="1" kern="0" spc="-5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b="1" kern="0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Environment</a:t>
            </a:r>
            <a:endParaRPr lang="en-IN" sz="2000" b="1" kern="0" spc="-2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3" name="Image 4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5389" y="723207"/>
            <a:ext cx="7996844" cy="520376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42116" y="6036140"/>
            <a:ext cx="2770951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2" algn="r">
              <a:spcBef>
                <a:spcPts val="890"/>
              </a:spcBef>
              <a:spcAft>
                <a:spcPts val="0"/>
              </a:spcAft>
              <a:tabLst>
                <a:tab pos="1092835" algn="l"/>
              </a:tabLst>
            </a:pPr>
            <a:r>
              <a:rPr lang="en-US" sz="1100" b="1" spc="-30" dirty="0">
                <a:latin typeface="Times New Roman" panose="02020603050405020304" pitchFamily="18" charset="0"/>
                <a:ea typeface="Times New Roman" panose="02020603050405020304" pitchFamily="18" charset="0"/>
              </a:rPr>
              <a:t>DBMS</a:t>
            </a:r>
            <a:r>
              <a:rPr lang="en-US" sz="1100" b="1" spc="9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100" b="1" spc="-30" dirty="0">
                <a:latin typeface="Times New Roman" panose="02020603050405020304" pitchFamily="18" charset="0"/>
                <a:ea typeface="Times New Roman" panose="02020603050405020304" pitchFamily="18" charset="0"/>
              </a:rPr>
              <a:t>Component</a:t>
            </a:r>
            <a:r>
              <a:rPr lang="en-US" sz="1100" b="1" spc="7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100" b="1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Modules</a:t>
            </a:r>
            <a:endParaRPr lang="en-IN" sz="1100" b="1" spc="-3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524112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053243" y="246257"/>
            <a:ext cx="575240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Centralized </a:t>
            </a:r>
            <a:r>
              <a:rPr lang="en-US" dirty="0"/>
              <a:t>and Client/Server Architectures for DBMSs</a:t>
            </a:r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1331405" y="670445"/>
            <a:ext cx="3390223" cy="2923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2" algn="r">
              <a:spcBef>
                <a:spcPts val="885"/>
              </a:spcBef>
              <a:spcAft>
                <a:spcPts val="0"/>
              </a:spcAft>
              <a:tabLst>
                <a:tab pos="1300480" algn="l"/>
              </a:tabLst>
            </a:pPr>
            <a:r>
              <a:rPr lang="en-US" sz="1300" b="1" spc="-30" dirty="0">
                <a:latin typeface="Times New Roman" panose="02020603050405020304" pitchFamily="18" charset="0"/>
                <a:ea typeface="Times New Roman" panose="02020603050405020304" pitchFamily="18" charset="0"/>
              </a:rPr>
              <a:t>Centralized</a:t>
            </a:r>
            <a:r>
              <a:rPr lang="en-US" sz="1300" b="1" spc="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300" b="1" spc="-30" dirty="0">
                <a:latin typeface="Times New Roman" panose="02020603050405020304" pitchFamily="18" charset="0"/>
                <a:ea typeface="Times New Roman" panose="02020603050405020304" pitchFamily="18" charset="0"/>
              </a:rPr>
              <a:t>DBMSs</a:t>
            </a:r>
            <a:r>
              <a:rPr lang="en-US" sz="1300" b="1" spc="3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300" b="1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Architecture</a:t>
            </a:r>
            <a:endParaRPr lang="en-IN" sz="1300" b="1" spc="-3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5" name="Image 47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1273" y="962833"/>
            <a:ext cx="7323512" cy="473969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179966" y="6049775"/>
            <a:ext cx="37979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Fig. A</a:t>
            </a:r>
            <a:r>
              <a:rPr lang="en-US" spc="35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physical</a:t>
            </a:r>
            <a:r>
              <a:rPr lang="en-US" spc="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centralized</a:t>
            </a:r>
            <a:r>
              <a:rPr lang="en-US" spc="9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architecture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713284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118730" y="168625"/>
            <a:ext cx="32772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Basic</a:t>
            </a:r>
            <a:r>
              <a:rPr lang="en-US" spc="8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Client/Server</a:t>
            </a:r>
            <a:r>
              <a:rPr lang="en-US" spc="6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Architectures</a:t>
            </a:r>
            <a:endParaRPr lang="en-IN" dirty="0"/>
          </a:p>
        </p:txBody>
      </p:sp>
      <p:pic>
        <p:nvPicPr>
          <p:cNvPr id="3" name="Image 48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18730" y="754582"/>
            <a:ext cx="3421380" cy="129222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40327" y="2116620"/>
            <a:ext cx="765602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654175" algn="just">
              <a:spcBef>
                <a:spcPts val="5"/>
              </a:spcBef>
              <a:spcAft>
                <a:spcPts val="0"/>
              </a:spcAft>
            </a:pPr>
            <a:r>
              <a:rPr lang="en-US" sz="1400" b="1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Fig. Logical</a:t>
            </a:r>
            <a:r>
              <a:rPr lang="en-US" sz="1400" b="1" spc="15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two-tier</a:t>
            </a:r>
            <a:r>
              <a:rPr lang="en-US" sz="1400" b="1" spc="7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client/server</a:t>
            </a:r>
            <a:r>
              <a:rPr lang="en-US" sz="1400" b="1" spc="7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400" b="1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architecture</a:t>
            </a:r>
            <a:endParaRPr lang="en-IN" sz="14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5" name="Image 48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34884" y="2759825"/>
            <a:ext cx="4956613" cy="317098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555959" y="6197954"/>
            <a:ext cx="378122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="1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Fig. Physical</a:t>
            </a:r>
            <a:r>
              <a:rPr lang="en-US" sz="1400" b="1" spc="25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two-tier</a:t>
            </a:r>
            <a:r>
              <a:rPr lang="en-US" sz="1400" b="1" spc="6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client/server</a:t>
            </a:r>
            <a:r>
              <a:rPr lang="en-US" sz="1400" b="1" spc="6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400" b="1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architecture</a:t>
            </a:r>
            <a:endParaRPr lang="en-IN" sz="1400" b="1" dirty="0"/>
          </a:p>
        </p:txBody>
      </p:sp>
    </p:spTree>
    <p:extLst>
      <p:ext uri="{BB962C8B-B14F-4D97-AF65-F5344CB8AC3E}">
        <p14:creationId xmlns:p14="http://schemas.microsoft.com/office/powerpoint/2010/main" val="119357685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5636" y="247735"/>
            <a:ext cx="700762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2" algn="r">
              <a:spcAft>
                <a:spcPts val="0"/>
              </a:spcAft>
              <a:tabLst>
                <a:tab pos="932815" algn="l"/>
              </a:tabLst>
            </a:pPr>
            <a:r>
              <a:rPr lang="en-US" b="1" spc="-30" dirty="0">
                <a:latin typeface="Times New Roman" panose="02020603050405020304" pitchFamily="18" charset="0"/>
                <a:ea typeface="Times New Roman" panose="02020603050405020304" pitchFamily="18" charset="0"/>
              </a:rPr>
              <a:t>Three-Tier</a:t>
            </a:r>
            <a:r>
              <a:rPr lang="en-US" b="1" spc="7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spc="-30" dirty="0">
                <a:latin typeface="Times New Roman" panose="02020603050405020304" pitchFamily="18" charset="0"/>
                <a:ea typeface="Times New Roman" panose="02020603050405020304" pitchFamily="18" charset="0"/>
              </a:rPr>
              <a:t>and</a:t>
            </a:r>
            <a:r>
              <a:rPr lang="en-US" b="1" spc="5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spc="-30" dirty="0">
                <a:latin typeface="Times New Roman" panose="02020603050405020304" pitchFamily="18" charset="0"/>
                <a:ea typeface="Times New Roman" panose="02020603050405020304" pitchFamily="18" charset="0"/>
              </a:rPr>
              <a:t>n-Tier</a:t>
            </a:r>
            <a:r>
              <a:rPr lang="en-US" b="1" spc="6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spc="-30" dirty="0">
                <a:latin typeface="Times New Roman" panose="02020603050405020304" pitchFamily="18" charset="0"/>
                <a:ea typeface="Times New Roman" panose="02020603050405020304" pitchFamily="18" charset="0"/>
              </a:rPr>
              <a:t>Architectures</a:t>
            </a:r>
            <a:r>
              <a:rPr lang="en-US" b="1" spc="6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spc="-30" dirty="0">
                <a:latin typeface="Times New Roman" panose="02020603050405020304" pitchFamily="18" charset="0"/>
                <a:ea typeface="Times New Roman" panose="02020603050405020304" pitchFamily="18" charset="0"/>
              </a:rPr>
              <a:t>for</a:t>
            </a:r>
            <a:r>
              <a:rPr lang="en-US" b="1" spc="7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spc="-30" dirty="0">
                <a:latin typeface="Times New Roman" panose="02020603050405020304" pitchFamily="18" charset="0"/>
                <a:ea typeface="Times New Roman" panose="02020603050405020304" pitchFamily="18" charset="0"/>
              </a:rPr>
              <a:t>Web</a:t>
            </a:r>
            <a:r>
              <a:rPr lang="en-US" b="1" spc="3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Applications</a:t>
            </a:r>
            <a:endParaRPr lang="en-IN" b="1" spc="-3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3" name="Image 5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5636" y="1180408"/>
            <a:ext cx="2568633" cy="2626158"/>
          </a:xfrm>
          <a:prstGeom prst="rect">
            <a:avLst/>
          </a:prstGeom>
        </p:spPr>
      </p:pic>
      <p:pic>
        <p:nvPicPr>
          <p:cNvPr id="4" name="Image 52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028987" y="1371600"/>
            <a:ext cx="1308677" cy="2244436"/>
          </a:xfrm>
          <a:prstGeom prst="rect">
            <a:avLst/>
          </a:prstGeom>
        </p:spPr>
      </p:pic>
      <p:pic>
        <p:nvPicPr>
          <p:cNvPr id="5" name="Image 52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640965" y="1371600"/>
            <a:ext cx="1175471" cy="224443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74359" y="4323740"/>
            <a:ext cx="325698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b="1" spc="-1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Fig. Logical</a:t>
            </a:r>
            <a:r>
              <a:rPr lang="en-US" sz="1200" b="1" spc="-3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200" b="1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three-tier</a:t>
            </a:r>
            <a:r>
              <a:rPr lang="en-US" sz="1200" b="1" spc="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200" b="1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client/server</a:t>
            </a:r>
            <a:r>
              <a:rPr lang="en-US" sz="1200" b="1" spc="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200" b="1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architecture</a:t>
            </a:r>
            <a:endParaRPr lang="en-IN" sz="1200" b="1" dirty="0"/>
          </a:p>
        </p:txBody>
      </p:sp>
      <p:sp>
        <p:nvSpPr>
          <p:cNvPr id="7" name="Rectangle 6"/>
          <p:cNvSpPr/>
          <p:nvPr/>
        </p:nvSpPr>
        <p:spPr>
          <a:xfrm>
            <a:off x="5403381" y="4323740"/>
            <a:ext cx="325121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b="1" spc="-1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Fig. Logical</a:t>
            </a:r>
            <a:r>
              <a:rPr lang="en-US" sz="1200" b="1" spc="-35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200" b="1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three-tier</a:t>
            </a:r>
            <a:r>
              <a:rPr lang="en-US" sz="1200" b="1" spc="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200" b="1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client/server</a:t>
            </a:r>
            <a:r>
              <a:rPr lang="en-US" sz="1200" b="1" spc="-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200" b="1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architecture</a:t>
            </a:r>
            <a:endParaRPr lang="en-IN" sz="1200" b="1" dirty="0"/>
          </a:p>
        </p:txBody>
      </p:sp>
    </p:spTree>
    <p:extLst>
      <p:ext uri="{BB962C8B-B14F-4D97-AF65-F5344CB8AC3E}">
        <p14:creationId xmlns:p14="http://schemas.microsoft.com/office/powerpoint/2010/main" val="288456250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Classification of Database Management Systems (DBMS)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Based on data model, users, distribution, cost, access paths, and purpose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A Database Management System (DBMS) can be classified based on several criteria such as:</a:t>
            </a:r>
          </a:p>
          <a:p>
            <a:r>
              <a:t>- Data model</a:t>
            </a:r>
          </a:p>
          <a:p>
            <a:r>
              <a:t>- Number of users</a:t>
            </a:r>
          </a:p>
          <a:p>
            <a:r>
              <a:t>- Distribution of data</a:t>
            </a:r>
          </a:p>
          <a:p>
            <a:r>
              <a:t>- Cost</a:t>
            </a:r>
          </a:p>
          <a:p>
            <a:r>
              <a:t>- Access paths</a:t>
            </a:r>
          </a:p>
          <a:p>
            <a:r>
              <a:t>- Purpose of use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1. Based on Data Model – Relational DBMS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Represents data as a collection of tables (relations).</a:t>
            </a:r>
          </a:p>
          <a:p>
            <a:r>
              <a:t>Each table consists of rows (tuples) and columns (attributes).</a:t>
            </a:r>
          </a:p>
          <a:p>
            <a:r>
              <a:t>Each table can be stored as a separate file.</a:t>
            </a:r>
          </a:p>
          <a:p>
            <a:r>
              <a:t>Relationships are maintained using keys.</a:t>
            </a:r>
          </a:p>
          <a:p>
            <a:r>
              <a:t>Uses SQL for querying.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1. Based on Data Model – Object-Oriented DBMS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Defines a database in terms of objects, their properties, and their operations.</a:t>
            </a:r>
          </a:p>
          <a:p>
            <a:r>
              <a:t>Objects with the same structure and behavior belong to a class.</a:t>
            </a:r>
          </a:p>
          <a:p>
            <a:r>
              <a:t>Classes are organized into hierarchies (or acyclic graphs).</a:t>
            </a:r>
          </a:p>
          <a:p>
            <a:r>
              <a:t>Operations of each class are specified using predefined procedures called methods.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1. Based on Data Model – Hierarchical DBMS (Legacy)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Represents data as hierarchical tree structures.</a:t>
            </a:r>
          </a:p>
          <a:p>
            <a:r>
              <a:t>Each hierarchy represents a number of related records.</a:t>
            </a:r>
          </a:p>
          <a:p>
            <a:r>
              <a:t>Supports one-to-many (1:N) relationships.</a:t>
            </a:r>
          </a:p>
          <a:p>
            <a:r>
              <a:t>Each child record has only one parent.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1. Based on Data Model – Network DBMS (Legacy)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Represents data as record types.</a:t>
            </a:r>
          </a:p>
          <a:p>
            <a:r>
              <a:t>Represents a limited type of 1:N relationship called a set type.</a:t>
            </a:r>
          </a:p>
          <a:p>
            <a:r>
              <a:t>A record can have multiple parent records.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1. Based on Data Model – Native XML DBMS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Uses hierarchical tree structures.</a:t>
            </a:r>
          </a:p>
          <a:p>
            <a:r>
              <a:t>Combines database concepts with document representation models.</a:t>
            </a:r>
          </a:p>
          <a:p>
            <a:r>
              <a:t>Data is represented as elements.</a:t>
            </a:r>
          </a:p>
          <a:p>
            <a:r>
              <a:t>Uses tags to nest data and create complex hierarchical structures.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2. Based on Number of Users – Single-User DBMS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Supports only one user at a time.</a:t>
            </a:r>
          </a:p>
          <a:p>
            <a:r>
              <a:t>Mostly used with personal computers (PCs).</a:t>
            </a:r>
          </a:p>
          <a:p>
            <a:r>
              <a:t>Suitable for small-scale applications.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2. Based on Number of Users – Multiuser DBMS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Supports multiple users concurrently.</a:t>
            </a:r>
          </a:p>
          <a:p>
            <a:r>
              <a:t>Allows simultaneous access to the database.</a:t>
            </a:r>
          </a:p>
          <a:p>
            <a:r>
              <a:t>Used in organizational and enterprise environments.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3. Based on Number of Sites – Centralized DBMS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Entire database is stored at a single computer site.</a:t>
            </a:r>
          </a:p>
          <a:p>
            <a:r>
              <a:t>All users access the database from the same location.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3. Based on Number of Sites – Distributed DBMS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Database and DBMS software are distributed over many sites.</a:t>
            </a:r>
          </a:p>
          <a:p>
            <a:r>
              <a:t>Sites are connected through a computer network.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Distributed DBMS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Homogeneous DDBMS:</a:t>
            </a:r>
          </a:p>
          <a:p>
            <a:r>
              <a:t>Uses the same DBMS software at all sites.</a:t>
            </a:r>
          </a:p>
          <a:p>
            <a:endParaRPr/>
          </a:p>
          <a:p>
            <a:r>
              <a:t>Heterogeneous DDBMS:</a:t>
            </a:r>
          </a:p>
          <a:p>
            <a:r>
              <a:t>Uses different DBMS software at each site.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4. Based on Cost – Open Source DBMS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Free to use and modify.</a:t>
            </a:r>
          </a:p>
          <a:p>
            <a:r>
              <a:t>Supported by third-party vendors.</a:t>
            </a:r>
          </a:p>
          <a:p>
            <a:r>
              <a:t>Examples: MySQL, PostgreSQL.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Based on Cost – Licensed DBMS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Different types of licensing models are available.</a:t>
            </a:r>
          </a:p>
          <a:p>
            <a:r>
              <a:t>Standalone single-user versions (e.g., Microsoft Access) are sold per copy.</a:t>
            </a:r>
          </a:p>
          <a:p>
            <a:r>
              <a:t>Advanced features like data warehousing, data mining, and support for additional data types are available at extra cost.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Based on Access Path Options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Some DBMSs are based on inverted file structures.</a:t>
            </a:r>
          </a:p>
          <a:p>
            <a:r>
              <a:t>Inverted file structures improve data access and retrieval speed.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General-Purpose DBMS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Designed to support many different applications.</a:t>
            </a:r>
          </a:p>
          <a:p>
            <a:r>
              <a:t>Flexible and reusable.</a:t>
            </a:r>
          </a:p>
          <a:p>
            <a:r>
              <a:t>Examples include commonly used enterprise DBMSs.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Special-Purpose DBMS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Designed for specific applications where performance is critical.</a:t>
            </a:r>
          </a:p>
          <a:p>
            <a:r>
              <a:t>Cannot be used for other applications without major changes.</a:t>
            </a:r>
          </a:p>
          <a:p>
            <a:r>
              <a:t>Examples include airline reservation systems and telephone directory systems.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Mappings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process of transforming requests and results between schema levels is called mapping.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Categories of Data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t>1. High-Level (Conceptual) Data Models:</a:t>
            </a:r>
          </a:p>
          <a:p>
            <a:r>
              <a:t>• Close to human perception</a:t>
            </a:r>
          </a:p>
          <a:p>
            <a:r>
              <a:t>• Use entities, attributes, relationships</a:t>
            </a:r>
          </a:p>
          <a:p>
            <a:r>
              <a:t>• Example: ER model</a:t>
            </a:r>
          </a:p>
          <a:p>
            <a:endParaRPr/>
          </a:p>
          <a:p>
            <a:r>
              <a:t>2. Representational (Implementation) Data Models:</a:t>
            </a:r>
          </a:p>
          <a:p>
            <a:r>
              <a:t>• Used in commercial DBMS</a:t>
            </a:r>
          </a:p>
          <a:p>
            <a:r>
              <a:t>• Hide physical storage details</a:t>
            </a:r>
          </a:p>
          <a:p>
            <a:r>
              <a:t>• Examples: Relational, Network, Hierarchical</a:t>
            </a:r>
          </a:p>
          <a:p>
            <a:endParaRPr/>
          </a:p>
          <a:p>
            <a:r>
              <a:t>3. Low-Level (Physical) Data Models:</a:t>
            </a:r>
          </a:p>
          <a:p>
            <a:r>
              <a:t>• Describe physical storage</a:t>
            </a:r>
          </a:p>
          <a:p>
            <a:r>
              <a:t>• Files, record formats, access paths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Schema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database schema is the overall logical structure of the database.</a:t>
            </a:r>
          </a:p>
          <a:p>
            <a:endParaRPr/>
          </a:p>
          <a:p>
            <a:r>
              <a:t>• Defined during database design</a:t>
            </a:r>
          </a:p>
          <a:p>
            <a:r>
              <a:t>• Specifies tables, attributes, relationships, constraints</a:t>
            </a:r>
          </a:p>
          <a:p>
            <a:r>
              <a:t>• Stored in DBMS catalog</a:t>
            </a:r>
          </a:p>
          <a:p>
            <a:r>
              <a:t>• Rarely changes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Schema Diagram &amp; Schema Construct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Schema Diagram:</a:t>
            </a:r>
          </a:p>
          <a:p>
            <a:r>
              <a:t>• Graphical representation of schema</a:t>
            </a:r>
          </a:p>
          <a:p>
            <a:r>
              <a:t>• Shows entity names and attributes</a:t>
            </a:r>
          </a:p>
          <a:p>
            <a:endParaRPr/>
          </a:p>
          <a:p>
            <a:r>
              <a:t>Schema Construct:</a:t>
            </a:r>
          </a:p>
          <a:p>
            <a:r>
              <a:t>• Each object in schema</a:t>
            </a:r>
          </a:p>
          <a:p>
            <a:r>
              <a:t>• Examples: STUDENT, COURSE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State / Snapshot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Database state refers to the data stored at a specific time.</a:t>
            </a:r>
          </a:p>
          <a:p>
            <a:endParaRPr/>
          </a:p>
          <a:p>
            <a:r>
              <a:t>• Also called instance</a:t>
            </a:r>
          </a:p>
          <a:p>
            <a:r>
              <a:t>• Changes after each update</a:t>
            </a:r>
          </a:p>
          <a:p>
            <a:r>
              <a:t>• Each schema construct has instances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Schema vs Database State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t>Schema (Intension):</a:t>
            </a:r>
          </a:p>
          <a:p>
            <a:r>
              <a:t>• Database structure</a:t>
            </a:r>
          </a:p>
          <a:p>
            <a:r>
              <a:t>• Defined once</a:t>
            </a:r>
          </a:p>
          <a:p>
            <a:endParaRPr/>
          </a:p>
          <a:p>
            <a:r>
              <a:t>Database State (Extension):</a:t>
            </a:r>
          </a:p>
          <a:p>
            <a:r>
              <a:t>• Actual data</a:t>
            </a:r>
          </a:p>
          <a:p>
            <a:r>
              <a:t>• Changes frequently</a:t>
            </a:r>
          </a:p>
          <a:p>
            <a:endParaRPr/>
          </a:p>
          <a:p>
            <a:r>
              <a:t>DBMS ensures validity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Three-Schema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Separates user applications from physical storage.</a:t>
            </a:r>
          </a:p>
          <a:p>
            <a:endParaRPr/>
          </a:p>
          <a:p>
            <a:r>
              <a:t>Levels:</a:t>
            </a:r>
          </a:p>
          <a:p>
            <a:r>
              <a:t>• External</a:t>
            </a:r>
          </a:p>
          <a:p>
            <a:r>
              <a:t>• Conceptual</a:t>
            </a:r>
          </a:p>
          <a:p>
            <a:r>
              <a:t>• Internal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External Level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User-specific views</a:t>
            </a:r>
          </a:p>
          <a:p>
            <a:r>
              <a:t>• Shows required data only</a:t>
            </a:r>
          </a:p>
          <a:p>
            <a:r>
              <a:t>• Improves security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Conceptual Level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Complete logical view</a:t>
            </a:r>
          </a:p>
          <a:p>
            <a:r>
              <a:t>• Entities and relationships</a:t>
            </a:r>
          </a:p>
          <a:p>
            <a:r>
              <a:t>• Independent of storage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Internal Level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Physical storage</a:t>
            </a:r>
          </a:p>
          <a:p>
            <a:r>
              <a:t>• Files, indexes</a:t>
            </a:r>
          </a:p>
          <a:p>
            <a:r>
              <a:t>• Performance focused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Independence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Ability to change schema at one level without affecting next level.</a:t>
            </a:r>
          </a:p>
          <a:p>
            <a:endParaRPr/>
          </a:p>
          <a:p>
            <a:r>
              <a:t>Types:</a:t>
            </a:r>
          </a:p>
          <a:p>
            <a:r>
              <a:t>• Logical</a:t>
            </a:r>
          </a:p>
          <a:p>
            <a:r>
              <a:t>• Physical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Logical Data Independence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Change conceptual schema without changing external views.</a:t>
            </a:r>
          </a:p>
          <a:p>
            <a:endParaRPr/>
          </a:p>
          <a:p>
            <a:r>
              <a:t>Example:</a:t>
            </a:r>
          </a:p>
          <a:p>
            <a:r>
              <a:t>• Add new attribute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Physical Data Independence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Change internal schema without changing conceptual schema.</a:t>
            </a:r>
          </a:p>
          <a:p>
            <a:endParaRPr/>
          </a:p>
          <a:p>
            <a:r>
              <a:t>Example:</a:t>
            </a:r>
          </a:p>
          <a:p>
            <a:r>
              <a:t>• Create index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DBMS Languages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DDL</a:t>
            </a:r>
          </a:p>
          <a:p>
            <a:r>
              <a:t>• SDL</a:t>
            </a:r>
          </a:p>
          <a:p>
            <a:r>
              <a:t>• VDL</a:t>
            </a:r>
          </a:p>
          <a:p>
            <a:r>
              <a:t>• DML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Definition Language (DDL)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Defines database schema.</a:t>
            </a:r>
          </a:p>
          <a:p>
            <a:endParaRPr/>
          </a:p>
          <a:p>
            <a:r>
              <a:t>• Tables</a:t>
            </a:r>
          </a:p>
          <a:p>
            <a:r>
              <a:t>• Constraints</a:t>
            </a:r>
          </a:p>
          <a:p>
            <a:r>
              <a:t>• Stored as metadata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Storage Definition Language (SDL)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Defines internal schema.</a:t>
            </a:r>
          </a:p>
          <a:p>
            <a:endParaRPr/>
          </a:p>
          <a:p>
            <a:r>
              <a:t>• Storage structures</a:t>
            </a:r>
          </a:p>
          <a:p>
            <a:r>
              <a:t>• Access paths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View Definition Language (VDL)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Defines user views.</a:t>
            </a:r>
          </a:p>
          <a:p>
            <a:endParaRPr/>
          </a:p>
          <a:p>
            <a:r>
              <a:t>• Maps views to conceptual schema</a:t>
            </a:r>
          </a:p>
          <a:p>
            <a:r>
              <a:t>• SQL used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Data Manipulation Language (DML)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Used for data operations:</a:t>
            </a:r>
          </a:p>
          <a:p>
            <a:r>
              <a:t>• Select</a:t>
            </a:r>
          </a:p>
          <a:p>
            <a:r>
              <a:t>• Insert</a:t>
            </a:r>
          </a:p>
          <a:p>
            <a:r>
              <a:t>• Update</a:t>
            </a:r>
          </a:p>
          <a:p>
            <a:r>
              <a:t>• Delete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High-Level DML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Non-procedural</a:t>
            </a:r>
          </a:p>
          <a:p>
            <a:r>
              <a:t>• Set-oriented</a:t>
            </a:r>
          </a:p>
          <a:p>
            <a:r>
              <a:t>• Example: SQL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Low-Level DML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Procedural</a:t>
            </a:r>
          </a:p>
          <a:p>
            <a:r>
              <a:t>• Record-at-a-time</a:t>
            </a:r>
          </a:p>
          <a:p>
            <a:r>
              <a:t>• Example: DL/1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DBMS Interfaces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Menu-based</a:t>
            </a:r>
          </a:p>
          <a:p>
            <a:r>
              <a:t>• Forms-based</a:t>
            </a:r>
          </a:p>
          <a:p>
            <a:r>
              <a:t>• GUI</a:t>
            </a:r>
          </a:p>
          <a:p>
            <a:r>
              <a:t>• Natural language</a:t>
            </a:r>
          </a:p>
          <a:p>
            <a:r>
              <a:t>• Speech</a:t>
            </a:r>
          </a:p>
          <a:p>
            <a:r>
              <a:t>• Parametric</a:t>
            </a:r>
          </a:p>
          <a:p>
            <a:r>
              <a:t>• DBA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517</TotalTime>
  <Words>2792</Words>
  <Application>Microsoft Office PowerPoint</Application>
  <PresentationFormat>On-screen Show (4:3)</PresentationFormat>
  <Paragraphs>542</Paragraphs>
  <Slides>103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103</vt:i4>
      </vt:variant>
    </vt:vector>
  </HeadingPairs>
  <TitlesOfParts>
    <vt:vector size="107" baseType="lpstr">
      <vt:lpstr>Arial</vt:lpstr>
      <vt:lpstr>Calibri</vt:lpstr>
      <vt:lpstr>Times New Roman</vt:lpstr>
      <vt:lpstr>Office Theme</vt:lpstr>
      <vt:lpstr>DBMS Architecture – Introduction</vt:lpstr>
      <vt:lpstr>Data Model</vt:lpstr>
      <vt:lpstr>Categories of Data Models</vt:lpstr>
      <vt:lpstr>High-Level or Conceptual Data Models</vt:lpstr>
      <vt:lpstr>Concepts Used in Conceptual Models</vt:lpstr>
      <vt:lpstr>Conceptual Data Model – Example</vt:lpstr>
      <vt:lpstr>Representational or Implementation Data Models</vt:lpstr>
      <vt:lpstr>Usage of Representational Models</vt:lpstr>
      <vt:lpstr>Types of Representational Data Models</vt:lpstr>
      <vt:lpstr>Why Called Record-Based Models</vt:lpstr>
      <vt:lpstr>Relational Model – Example</vt:lpstr>
      <vt:lpstr>Low-Level or Physical Data Models</vt:lpstr>
      <vt:lpstr>Storage Details in Physical Models</vt:lpstr>
      <vt:lpstr>Physical Data Model – Example</vt:lpstr>
      <vt:lpstr>Summary of Categories</vt:lpstr>
      <vt:lpstr>Database Schema</vt:lpstr>
      <vt:lpstr>PowerPoint Presentation</vt:lpstr>
      <vt:lpstr>Schema Diagram</vt:lpstr>
      <vt:lpstr>Schema Construct</vt:lpstr>
      <vt:lpstr>Database State or Snapshot</vt:lpstr>
      <vt:lpstr>Database State – Example</vt:lpstr>
      <vt:lpstr>Schema and Database State</vt:lpstr>
      <vt:lpstr>Role of DBMS and Metadata</vt:lpstr>
      <vt:lpstr>Intension and Extension</vt:lpstr>
      <vt:lpstr>Three-Schema Architecture</vt:lpstr>
      <vt:lpstr>PowerPoint Presentation</vt:lpstr>
      <vt:lpstr>Internal Level</vt:lpstr>
      <vt:lpstr>Conceptual Level</vt:lpstr>
      <vt:lpstr>External Level</vt:lpstr>
      <vt:lpstr>Three-Schema Architecture – Processing</vt:lpstr>
      <vt:lpstr>Data Independence</vt:lpstr>
      <vt:lpstr>Types of Data Independence</vt:lpstr>
      <vt:lpstr>Logical Data Independence</vt:lpstr>
      <vt:lpstr>Logical Data Independence – Purpose</vt:lpstr>
      <vt:lpstr>Logical Data Independence – Key Point</vt:lpstr>
      <vt:lpstr>Logical Data Independence – Example</vt:lpstr>
      <vt:lpstr>Physical Data Independence</vt:lpstr>
      <vt:lpstr>Physical Data Independence – Reason</vt:lpstr>
      <vt:lpstr>Physical Data Independence – Example</vt:lpstr>
      <vt:lpstr>Summary</vt:lpstr>
      <vt:lpstr>Database Languages and Interfaces</vt:lpstr>
      <vt:lpstr>DBMS Languages</vt:lpstr>
      <vt:lpstr>Data Definition Language (DDL)</vt:lpstr>
      <vt:lpstr>DDL – Example</vt:lpstr>
      <vt:lpstr>Storage Definition Language (SDL)</vt:lpstr>
      <vt:lpstr>View Definition Language (VDL)</vt:lpstr>
      <vt:lpstr>VDL – Example</vt:lpstr>
      <vt:lpstr>Data Manipulation Language (DML)</vt:lpstr>
      <vt:lpstr>Types of DML</vt:lpstr>
      <vt:lpstr>High-Level DML</vt:lpstr>
      <vt:lpstr>High-Level DML – Example</vt:lpstr>
      <vt:lpstr>Low-Level DML</vt:lpstr>
      <vt:lpstr>Low-Level DML – Example</vt:lpstr>
      <vt:lpstr>Host Language</vt:lpstr>
      <vt:lpstr>Menu-Based Interfaces</vt:lpstr>
      <vt:lpstr>Forms-Based Interfaces</vt:lpstr>
      <vt:lpstr>Graphical User Interfaces (GUI)</vt:lpstr>
      <vt:lpstr>Natural Language Interfaces</vt:lpstr>
      <vt:lpstr>Speech Input and Output</vt:lpstr>
      <vt:lpstr>Interfaces for Parametric Users</vt:lpstr>
      <vt:lpstr>Interfaces for the DBA</vt:lpstr>
      <vt:lpstr>PowerPoint Presentation</vt:lpstr>
      <vt:lpstr>PowerPoint Presentation</vt:lpstr>
      <vt:lpstr>PowerPoint Presentation</vt:lpstr>
      <vt:lpstr>PowerPoint Presentation</vt:lpstr>
      <vt:lpstr>Classification of Database Management Systems (DBMS)</vt:lpstr>
      <vt:lpstr>Introduction</vt:lpstr>
      <vt:lpstr>1. Based on Data Model – Relational DBMS</vt:lpstr>
      <vt:lpstr>1. Based on Data Model – Object-Oriented DBMS</vt:lpstr>
      <vt:lpstr>1. Based on Data Model – Hierarchical DBMS (Legacy)</vt:lpstr>
      <vt:lpstr>1. Based on Data Model – Network DBMS (Legacy)</vt:lpstr>
      <vt:lpstr>1. Based on Data Model – Native XML DBMS</vt:lpstr>
      <vt:lpstr>2. Based on Number of Users – Single-User DBMS</vt:lpstr>
      <vt:lpstr>2. Based on Number of Users – Multiuser DBMS</vt:lpstr>
      <vt:lpstr>3. Based on Number of Sites – Centralized DBMS</vt:lpstr>
      <vt:lpstr>3. Based on Number of Sites – Distributed DBMS</vt:lpstr>
      <vt:lpstr>Types of Distributed DBMS</vt:lpstr>
      <vt:lpstr>4. Based on Cost – Open Source DBMS</vt:lpstr>
      <vt:lpstr>4. Based on Cost – Licensed DBMS</vt:lpstr>
      <vt:lpstr>5. Based on Access Path Options</vt:lpstr>
      <vt:lpstr>6. General-Purpose DBMS</vt:lpstr>
      <vt:lpstr>6. Special-Purpose DBMS</vt:lpstr>
      <vt:lpstr>Mappings</vt:lpstr>
      <vt:lpstr>Categories of Data Models</vt:lpstr>
      <vt:lpstr>Database Schema</vt:lpstr>
      <vt:lpstr>Schema Diagram &amp; Schema Construct</vt:lpstr>
      <vt:lpstr>Database State / Snapshot</vt:lpstr>
      <vt:lpstr>Schema vs Database State</vt:lpstr>
      <vt:lpstr>Three-Schema Architecture</vt:lpstr>
      <vt:lpstr>External Level</vt:lpstr>
      <vt:lpstr>Conceptual Level</vt:lpstr>
      <vt:lpstr>Internal Level</vt:lpstr>
      <vt:lpstr>Data Independence</vt:lpstr>
      <vt:lpstr>Logical Data Independence</vt:lpstr>
      <vt:lpstr>Physical Data Independence</vt:lpstr>
      <vt:lpstr>DBMS Languages</vt:lpstr>
      <vt:lpstr>Data Definition Language (DDL)</vt:lpstr>
      <vt:lpstr>Storage Definition Language (SDL)</vt:lpstr>
      <vt:lpstr>View Definition Language (VDL)</vt:lpstr>
      <vt:lpstr>Data Manipulation Language (DML)</vt:lpstr>
      <vt:lpstr>High-Level DML</vt:lpstr>
      <vt:lpstr>Low-Level DML</vt:lpstr>
      <vt:lpstr>DBMS Interfaces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DBMS Architecture – Introduction</dc:title>
  <dc:subject/>
  <dc:creator/>
  <cp:keywords/>
  <dc:description>generated using python-pptx</dc:description>
  <cp:lastModifiedBy>Student</cp:lastModifiedBy>
  <cp:revision>16</cp:revision>
  <dcterms:created xsi:type="dcterms:W3CDTF">2013-01-27T09:14:16Z</dcterms:created>
  <dcterms:modified xsi:type="dcterms:W3CDTF">2026-02-03T05:19:16Z</dcterms:modified>
  <cp:category/>
</cp:coreProperties>
</file>